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548640" cy="38100"/>
          </a:xfrm>
          <a:prstGeom prst="rect">
            <a:avLst/>
          </a:prstGeom>
          <a:solidFill>
            <a:srgbClr val="3D4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D4F43"/>
                </a:solidFill>
                <a:latin typeface="Hiragino Kaku Gothic ProN"/>
              </a:rPr>
              <a:t>HIS RECOVERIES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F1D1A"/>
                </a:solidFill>
                <a:latin typeface="Hiragino Mincho ProN"/>
              </a:rPr>
              <a:t>オフライン・マーケティング戦略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7A766E"/>
                </a:solidFill>
                <a:latin typeface="Hiragino Kaku Gothic ProN"/>
              </a:rPr>
              <a:t>街中QR / 匿名BOX を起点に、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7A766E"/>
                </a:solidFill>
                <a:latin typeface="Hiragino Kaku Gothic ProN"/>
              </a:rPr>
              <a:t>最初の100件の改善レビューと、最初の1,000人を獲得する。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8A39A"/>
                </a:solidFill>
                <a:latin typeface="Hiragino Kaku Gothic ProN"/>
              </a:rPr>
              <a:t>男性コンプレックス改善データベース（男性版RealSelf）  /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457200" cy="38100"/>
          </a:xfrm>
          <a:prstGeom prst="rect">
            <a:avLst/>
          </a:prstGeom>
          <a:solidFill>
            <a:srgbClr val="3D4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4F43"/>
                </a:solidFill>
                <a:latin typeface="Hiragino Kaku Gothic ProN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1D1A"/>
                </a:solidFill>
                <a:latin typeface="Hiragino Mincho ProN"/>
              </a:rPr>
              <a:t>検索結果が空の検索エンジンは、存在しないのと同じ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F1D1A"/>
                </a:solidFill>
                <a:latin typeface="Hiragino Kaku Gothic ProN"/>
              </a:rPr>
              <a:t>His Recoveries は「改善体験の検索エンジン」。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7A766E"/>
                </a:solidFill>
                <a:latin typeface="Hiragino Kaku Gothic ProN"/>
              </a:rPr>
              <a:t>だが、データが無ければ価値はゼロ。これがコールドスタート問題＝最大の急所。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08960"/>
            <a:ext cx="338328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4290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3D4F43"/>
                </a:solidFill>
                <a:latin typeface="Hiragino Mincho ProN"/>
              </a:rPr>
              <a:t>①  不信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02336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A766E"/>
                </a:solidFill>
                <a:latin typeface="Hiragino Kaku Gothic ProN"/>
              </a:rPr>
              <a:t>検索しても広告と嘘の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A766E"/>
                </a:solidFill>
                <a:latin typeface="Hiragino Kaku Gothic ProN"/>
              </a:rPr>
              <a:t>成功談しか出てこない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108960"/>
            <a:ext cx="338328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34290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3D4F43"/>
                </a:solidFill>
                <a:latin typeface="Hiragino Mincho ProN"/>
              </a:rPr>
              <a:t>②  非拡散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402336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A766E"/>
                </a:solidFill>
                <a:latin typeface="Hiragino Kaku Gothic ProN"/>
              </a:rPr>
              <a:t>SNSでは絶対に共有されない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A766E"/>
                </a:solidFill>
                <a:latin typeface="Hiragino Kaku Gothic ProN"/>
              </a:rPr>
              <a:t>（友達には言えない）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3108960"/>
            <a:ext cx="338328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34290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3D4F43"/>
                </a:solidFill>
                <a:latin typeface="Hiragino Mincho ProN"/>
              </a:rPr>
              <a:t>③  非CV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02336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A766E"/>
                </a:solidFill>
                <a:latin typeface="Hiragino Kaku Gothic ProN"/>
              </a:rPr>
              <a:t>広告を踏んでも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A766E"/>
                </a:solidFill>
                <a:latin typeface="Hiragino Kaku Gothic ProN"/>
              </a:rPr>
              <a:t>「申し込む」勇気が出ない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F1D1A"/>
                </a:solidFill>
                <a:latin typeface="Hiragino Kaku Gothic ProN"/>
              </a:rPr>
              <a:t>→ 恥の悩みは、オンライン広告では獲れない。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457200" cy="38100"/>
          </a:xfrm>
          <a:prstGeom prst="rect">
            <a:avLst/>
          </a:prstGeom>
          <a:solidFill>
            <a:srgbClr val="3D4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4F43"/>
                </a:solidFill>
                <a:latin typeface="Hiragino Kaku Gothic ProN"/>
              </a:rPr>
              <a:t>CORE 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1D1A"/>
                </a:solidFill>
                <a:latin typeface="Hiragino Mincho ProN"/>
              </a:rPr>
              <a:t>一人になれる物理空間には、ガードが下りる瞬間がある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1463040"/>
          </a:xfrm>
          <a:prstGeom prst="roundRect">
            <a:avLst/>
          </a:prstGeom>
          <a:solidFill>
            <a:srgbClr val="3D4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9784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Hiragino Mincho ProN"/>
              </a:rPr>
              <a:t>公開では書けない。でも、誰も見ていない箱には書ける。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319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1F1D1A"/>
                </a:solidFill>
                <a:latin typeface="Hiragino Kaku Gothic ProN"/>
              </a:rPr>
              <a:t>鏡の前・更衣室・トイレ個室・クリニック待合 —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7A766E"/>
                </a:solidFill>
                <a:latin typeface="Hiragino Kaku Gothic ProN"/>
              </a:rPr>
              <a:t>そこに置いた匿名BOX/QRは、「誰にも言えないこと」を初めて吐き出させる装置になる。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A8A39A"/>
                </a:solidFill>
                <a:latin typeface="Hiragino Kaku Gothic ProN"/>
              </a:rPr>
              <a:t>NGL（匿名×ホスト経由で2.5億DL）の「匿名なら開く」原理を、物理空間に適用する。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457200" cy="38100"/>
          </a:xfrm>
          <a:prstGeom prst="rect">
            <a:avLst/>
          </a:prstGeom>
          <a:solidFill>
            <a:srgbClr val="3D4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4F43"/>
                </a:solidFill>
                <a:latin typeface="Hiragino Kaku Gothic ProN"/>
              </a:rPr>
              <a:t>TARGET &amp;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1D1A"/>
                </a:solidFill>
                <a:latin typeface="Hiragino Mincho ProN"/>
              </a:rPr>
              <a:t>高送客単価の男性コンプレックスに特化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1965960" cy="1005840"/>
          </a:xfrm>
          <a:prstGeom prst="roundRect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9659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D4F43"/>
                </a:solidFill>
                <a:latin typeface="Hiragino Kaku Gothic ProN"/>
              </a:rPr>
              <a:t>AGA・薄毛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53512" y="2011680"/>
            <a:ext cx="1965960" cy="1005840"/>
          </a:xfrm>
          <a:prstGeom prst="roundRect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3512" y="2011680"/>
            <a:ext cx="19659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D4F43"/>
                </a:solidFill>
                <a:latin typeface="Hiragino Kaku Gothic ProN"/>
              </a:rPr>
              <a:t>ED・性機能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2011680"/>
            <a:ext cx="1965960" cy="1005840"/>
          </a:xfrm>
          <a:prstGeom prst="roundRect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4064" y="2011680"/>
            <a:ext cx="19659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D4F43"/>
                </a:solidFill>
                <a:latin typeface="Hiragino Kaku Gothic ProN"/>
              </a:rPr>
              <a:t>包茎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14616" y="2011680"/>
            <a:ext cx="1965960" cy="1005840"/>
          </a:xfrm>
          <a:prstGeom prst="roundRect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14616" y="2011680"/>
            <a:ext cx="19659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D4F43"/>
                </a:solidFill>
                <a:latin typeface="Hiragino Kaku Gothic ProN"/>
              </a:rPr>
              <a:t>多汗症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45168" y="2011680"/>
            <a:ext cx="1965960" cy="1005840"/>
          </a:xfrm>
          <a:prstGeom prst="roundRect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45168" y="2011680"/>
            <a:ext cx="19659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D4F43"/>
                </a:solidFill>
                <a:latin typeface="Hiragino Kaku Gothic ProN"/>
              </a:rPr>
              <a:t>体臭・ワキガ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F1D1A"/>
                </a:solidFill>
                <a:latin typeface="Hiragino Kaku Gothic ProN"/>
              </a:rPr>
              <a:t>収益の本体は B2B 送客（消費者課金ではない）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023360"/>
            <a:ext cx="2542032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43400"/>
            <a:ext cx="2542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D4F43"/>
                </a:solidFill>
                <a:latin typeface="Hiragino Mincho ProN"/>
              </a:rPr>
              <a:t>¥30,000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2542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A766E"/>
                </a:solidFill>
                <a:latin typeface="Hiragino Kaku Gothic ProN"/>
              </a:rPr>
              <a:t>送客単価（目安）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83864" y="4023360"/>
            <a:ext cx="2542032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83864" y="4343400"/>
            <a:ext cx="2542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D4F43"/>
                </a:solidFill>
                <a:latin typeface="Hiragino Mincho ProN"/>
              </a:rPr>
              <a:t>3,300件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83864" y="5074920"/>
            <a:ext cx="2542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A766E"/>
                </a:solidFill>
                <a:latin typeface="Hiragino Kaku Gothic ProN"/>
              </a:rPr>
              <a:t>年間送客 目標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4023360"/>
            <a:ext cx="2542032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4768" y="4343400"/>
            <a:ext cx="2542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D4F43"/>
                </a:solidFill>
                <a:latin typeface="Hiragino Mincho ProN"/>
              </a:rPr>
              <a:t>¥1億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5074920"/>
            <a:ext cx="2542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A766E"/>
                </a:solidFill>
                <a:latin typeface="Hiragino Kaku Gothic ProN"/>
              </a:rPr>
              <a:t>到達する年商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05672" y="4023360"/>
            <a:ext cx="2542032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05672" y="4343400"/>
            <a:ext cx="2542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D4F43"/>
                </a:solidFill>
                <a:latin typeface="Hiragino Mincho ProN"/>
              </a:rPr>
              <a:t>月数万PV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05672" y="5074920"/>
            <a:ext cx="2542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A766E"/>
                </a:solidFill>
                <a:latin typeface="Hiragino Kaku Gothic ProN"/>
              </a:rPr>
              <a:t>必要トラフィック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A8A39A"/>
                </a:solidFill>
                <a:latin typeface="Hiragino Kaku Gothic ProN"/>
              </a:rPr>
              <a:t>月275件の送客で到達圏。まず「最初の100レビュー」を集められるかが最初の勝負。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457200" cy="38100"/>
          </a:xfrm>
          <a:prstGeom prst="rect">
            <a:avLst/>
          </a:prstGeom>
          <a:solidFill>
            <a:srgbClr val="3D4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4F43"/>
                </a:solidFill>
                <a:latin typeface="Hiragino Kaku Gothic ProN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1D1A"/>
                </a:solidFill>
                <a:latin typeface="Hiragino Mincho ProN"/>
              </a:rPr>
              <a:t>QR / BOX から製品への一本道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221992"/>
            <a:ext cx="329184" cy="329184"/>
          </a:xfrm>
          <a:prstGeom prst="roundRect">
            <a:avLst/>
          </a:prstGeom>
          <a:solidFill>
            <a:srgbClr val="3D4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329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Hiragino Kaku Gothic Pro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03120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1D1A"/>
                </a:solidFill>
                <a:latin typeface="Hiragino Kaku Gothic ProN"/>
              </a:rPr>
              <a:t>街中 QR / 匿名BOX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103120"/>
            <a:ext cx="5486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A766E"/>
                </a:solidFill>
                <a:latin typeface="Hiragino Kaku Gothic ProN"/>
              </a:rPr>
              <a:t>スキャン or 投函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761488"/>
            <a:ext cx="10515600" cy="566928"/>
          </a:xfrm>
          <a:prstGeom prst="roundRect">
            <a:avLst/>
          </a:prstGeom>
          <a:solidFill>
            <a:srgbClr val="F6F4EF"/>
          </a:solidFill>
          <a:ln w="9525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2880360"/>
            <a:ext cx="329184" cy="329184"/>
          </a:xfrm>
          <a:prstGeom prst="roundRect">
            <a:avLst/>
          </a:prstGeom>
          <a:solidFill>
            <a:srgbClr val="3D4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07208"/>
            <a:ext cx="329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Hiragino Kaku Gothic ProN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761488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1D1A"/>
                </a:solidFill>
                <a:latin typeface="Hiragino Kaku Gothic ProN"/>
              </a:rPr>
              <a:t>/confess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761488"/>
            <a:ext cx="5486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A766E"/>
                </a:solidFill>
                <a:latin typeface="Hiragino Kaku Gothic ProN"/>
              </a:rPr>
              <a:t>誰にも言えないことを匿名で（30秒）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419856"/>
            <a:ext cx="105156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3538728"/>
            <a:ext cx="329184" cy="329184"/>
          </a:xfrm>
          <a:prstGeom prst="roundRect">
            <a:avLst/>
          </a:prstGeom>
          <a:solidFill>
            <a:srgbClr val="3D4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65576"/>
            <a:ext cx="329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Hiragino Kaku Gothic ProN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19856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1D1A"/>
                </a:solidFill>
                <a:latin typeface="Hiragino Kaku Gothic ProN"/>
              </a:rPr>
              <a:t>あなただけじゃない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419856"/>
            <a:ext cx="5486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A766E"/>
                </a:solidFill>
                <a:latin typeface="Hiragino Kaku Gothic ProN"/>
              </a:rPr>
              <a:t>同じ悩みの仲間 ◯人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078224"/>
            <a:ext cx="10515600" cy="566928"/>
          </a:xfrm>
          <a:prstGeom prst="roundRect">
            <a:avLst/>
          </a:prstGeom>
          <a:solidFill>
            <a:srgbClr val="F6F4EF"/>
          </a:solidFill>
          <a:ln w="9525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" y="4197096"/>
            <a:ext cx="329184" cy="329184"/>
          </a:xfrm>
          <a:prstGeom prst="roundRect">
            <a:avLst/>
          </a:prstGeom>
          <a:solidFill>
            <a:srgbClr val="3D4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123944"/>
            <a:ext cx="329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Hiragino Kaku Gothic ProN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078224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1D1A"/>
                </a:solidFill>
                <a:latin typeface="Hiragino Kaku Gothic ProN"/>
              </a:rPr>
              <a:t>/cases?c=悩み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078224"/>
            <a:ext cx="5486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A766E"/>
                </a:solidFill>
                <a:latin typeface="Hiragino Kaku Gothic ProN"/>
              </a:rPr>
              <a:t>似た人の改善事例（絞込済）★鏡の瞬間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736592"/>
            <a:ext cx="105156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0120" y="4855464"/>
            <a:ext cx="329184" cy="329184"/>
          </a:xfrm>
          <a:prstGeom prst="roundRect">
            <a:avLst/>
          </a:prstGeom>
          <a:solidFill>
            <a:srgbClr val="3D4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782312"/>
            <a:ext cx="329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Hiragino Kaku Gothic ProN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736592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1D1A"/>
                </a:solidFill>
                <a:latin typeface="Hiragino Kaku Gothic ProN"/>
              </a:rPr>
              <a:t>集合知 → 投稿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736592"/>
            <a:ext cx="5486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A766E"/>
                </a:solidFill>
                <a:latin typeface="Hiragino Kaku Gothic ProN"/>
              </a:rPr>
              <a:t>Give to Get でレビュー増殖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394960"/>
            <a:ext cx="10515600" cy="566928"/>
          </a:xfrm>
          <a:prstGeom prst="roundRect">
            <a:avLst/>
          </a:prstGeom>
          <a:solidFill>
            <a:srgbClr val="F6F4EF"/>
          </a:solidFill>
          <a:ln w="9525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0120" y="5513832"/>
            <a:ext cx="329184" cy="329184"/>
          </a:xfrm>
          <a:prstGeom prst="roundRect">
            <a:avLst/>
          </a:prstGeom>
          <a:solidFill>
            <a:srgbClr val="3D4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440680"/>
            <a:ext cx="329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Hiragino Kaku Gothic ProN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394960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1D1A"/>
                </a:solidFill>
                <a:latin typeface="Hiragino Kaku Gothic ProN"/>
              </a:rPr>
              <a:t>提携クリニック予約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5394960"/>
            <a:ext cx="5486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A766E"/>
                </a:solidFill>
                <a:latin typeface="Hiragino Kaku Gothic ProN"/>
              </a:rPr>
              <a:t>送客＝収益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A8A39A"/>
                </a:solidFill>
                <a:latin typeface="Hiragino Kaku Gothic ProN"/>
              </a:rPr>
              <a:t>入口カテゴリは製品と統一: AGA / ED / 包茎 / 多汗症 / 体臭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457200" cy="38100"/>
          </a:xfrm>
          <a:prstGeom prst="rect">
            <a:avLst/>
          </a:prstGeom>
          <a:solidFill>
            <a:srgbClr val="3D4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4F43"/>
                </a:solidFill>
                <a:latin typeface="Hiragino Kaku Gothic ProN"/>
              </a:rPr>
              <a:t>PLACEMENT — 成否の9割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1D1A"/>
                </a:solidFill>
                <a:latin typeface="Hiragino Mincho ProN"/>
              </a:rPr>
              <a:t>“悩んでいる男性が、ひとりで居る場所”に置く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338328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3383280" cy="640080"/>
          </a:xfrm>
          <a:prstGeom prst="roundRect">
            <a:avLst/>
          </a:prstGeom>
          <a:solidFill>
            <a:srgbClr val="3D4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3383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Hiragino Kaku Gothic ProN"/>
              </a:rPr>
              <a:t>TIER 1  高純度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2834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F1D1A"/>
                </a:solidFill>
                <a:latin typeface="Hiragino Kaku Gothic ProN"/>
              </a:rPr>
              <a:t>・ クリニック待合・トイレ（AGA/ED/包茎/多汗）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F1D1A"/>
                </a:solidFill>
                <a:latin typeface="Hiragino Kaku Gothic ProN"/>
              </a:rPr>
              <a:t>・ 理容室・メンズサロンの鏡前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F1D1A"/>
                </a:solidFill>
                <a:latin typeface="Hiragino Kaku Gothic ProN"/>
              </a:rPr>
              <a:t>・ ジムの更衣室・シャワー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338328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3383280" cy="640080"/>
          </a:xfrm>
          <a:prstGeom prst="roundRect">
            <a:avLst/>
          </a:prstGeom>
          <a:solidFill>
            <a:srgbClr val="6B8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011680"/>
            <a:ext cx="3383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Hiragino Kaku Gothic ProN"/>
              </a:rPr>
              <a:t>TIER 2  一人空間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880360"/>
            <a:ext cx="2834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7A766E"/>
                </a:solidFill>
                <a:latin typeface="Hiragino Kaku Gothic ProN"/>
              </a:rPr>
              <a:t>・ 銭湯・サウナの脱衣所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7A766E"/>
                </a:solidFill>
                <a:latin typeface="Hiragino Kaku Gothic ProN"/>
              </a:rPr>
              <a:t>・ 大学・専門学校のトイレ個室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7A766E"/>
                </a:solidFill>
                <a:latin typeface="Hiragino Kaku Gothic ProN"/>
              </a:rPr>
              <a:t>・ ネットカフェ・カプセルホテル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2011680"/>
            <a:ext cx="338328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55280" y="2011680"/>
            <a:ext cx="3383280" cy="640080"/>
          </a:xfrm>
          <a:prstGeom prst="roundRect">
            <a:avLst/>
          </a:prstGeom>
          <a:solidFill>
            <a:srgbClr val="A8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2011680"/>
            <a:ext cx="3383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Hiragino Kaku Gothic ProN"/>
              </a:rPr>
              <a:t>TIER 3  面で撒く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880360"/>
            <a:ext cx="2834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7A766E"/>
                </a:solidFill>
                <a:latin typeface="Hiragino Kaku Gothic ProN"/>
              </a:rPr>
              <a:t>・ メンズ美容フリーペーパー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7A766E"/>
                </a:solidFill>
                <a:latin typeface="Hiragino Kaku Gothic ProN"/>
              </a:rPr>
              <a:t>・ 会計時カード同梱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7A766E"/>
                </a:solidFill>
                <a:latin typeface="Hiragino Kaku Gothic ProN"/>
              </a:rPr>
              <a:t>・ 大学サークル・寮の掲示板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1D1A"/>
                </a:solidFill>
                <a:latin typeface="Hiragino Kaku Gothic ProN"/>
              </a:rPr>
              <a:t>原則：「人目が無い」×「悩みを思い出す」が重なる場所を最優先。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457200" cy="38100"/>
          </a:xfrm>
          <a:prstGeom prst="rect">
            <a:avLst/>
          </a:prstGeom>
          <a:solidFill>
            <a:srgbClr val="3D4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4F43"/>
                </a:solidFill>
                <a:latin typeface="Hiragino Kaku Gothic ProN"/>
              </a:rPr>
              <a:t>CREATIVE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1D1A"/>
                </a:solidFill>
                <a:latin typeface="Hiragino Mincho ProN"/>
              </a:rPr>
              <a:t>広告に見せない。問いだけを置く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3017520" cy="3840480"/>
          </a:xfrm>
          <a:prstGeom prst="roundRect">
            <a:avLst/>
          </a:prstGeom>
          <a:solidFill>
            <a:srgbClr val="1F1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Hiragino Kaku Gothic ProN"/>
              </a:rPr>
              <a:t>誰にも言えないことを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Hiragino Mincho ProN"/>
              </a:rPr>
              <a:t>ここへ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4069080"/>
            <a:ext cx="914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19" y="42976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1D1A"/>
                </a:solidFill>
                <a:latin typeface="Hiragino Kaku Gothic ProN"/>
              </a:rPr>
              <a:t>QR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120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99999"/>
                </a:solidFill>
                <a:latin typeface="Hiragino Kaku Gothic ProN"/>
              </a:rPr>
              <a:t>anonymous — no sign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11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D4F43"/>
                </a:solidFill>
                <a:latin typeface="Hiragino Kaku Gothic ProN"/>
              </a:rPr>
              <a:t>コピー（場所別 A/B）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2560320"/>
            <a:ext cx="731520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560320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A8A39A"/>
                </a:solidFill>
                <a:latin typeface="Hiragino Kaku Gothic ProN"/>
              </a:rPr>
              <a:t>汎用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60320"/>
            <a:ext cx="4754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F1D1A"/>
                </a:solidFill>
                <a:latin typeface="Hiragino Kaku Gothic ProN"/>
              </a:rPr>
              <a:t>誰にも言えないことを、ここへ。匿名・登録なし・30秒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3310128"/>
            <a:ext cx="731520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3310128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A8A39A"/>
                </a:solidFill>
                <a:latin typeface="Hiragino Kaku Gothic ProN"/>
              </a:rPr>
              <a:t>理容室 / ジム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10128"/>
            <a:ext cx="4754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F1D1A"/>
                </a:solidFill>
                <a:latin typeface="Hiragino Kaku Gothic ProN"/>
              </a:rPr>
              <a:t>鏡の前で、本当は何を思ってる？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4059936"/>
            <a:ext cx="731520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4059936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A8A39A"/>
                </a:solidFill>
                <a:latin typeface="Hiragino Kaku Gothic ProN"/>
              </a:rPr>
              <a:t>クリニック待合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059936"/>
            <a:ext cx="4754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F1D1A"/>
                </a:solidFill>
                <a:latin typeface="Hiragino Kaku Gothic ProN"/>
              </a:rPr>
              <a:t>その悩み、ひとりじゃない。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4809744"/>
            <a:ext cx="731520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4809744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A8A39A"/>
                </a:solidFill>
                <a:latin typeface="Hiragino Kaku Gothic ProN"/>
              </a:rPr>
              <a:t>トイレ個室 / 銭湯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809744"/>
            <a:ext cx="4754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F1D1A"/>
                </a:solidFill>
                <a:latin typeface="Hiragino Kaku Gothic ProN"/>
              </a:rPr>
              <a:t>ここでは、誰も見ていない。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60527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A766E"/>
                </a:solidFill>
                <a:latin typeface="Hiragino Kaku Gothic ProN"/>
              </a:rPr>
              <a:t>安心の担保：名前も連絡先も不要。物理BOX併設で手書き投函も拾う。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457200" cy="38100"/>
          </a:xfrm>
          <a:prstGeom prst="rect">
            <a:avLst/>
          </a:prstGeom>
          <a:solidFill>
            <a:srgbClr val="3D4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4F43"/>
                </a:solidFill>
                <a:latin typeface="Hiragino Kaku Gothic ProN"/>
              </a:rPr>
              <a:t>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1D1A"/>
                </a:solidFill>
                <a:latin typeface="Hiragino Mincho ProN"/>
              </a:rPr>
              <a:t>場所ごとに固有QR。効いた場所に集中する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10515600" cy="1005840"/>
          </a:xfrm>
          <a:prstGeom prst="roundRect">
            <a:avLst/>
          </a:prstGeom>
          <a:solidFill>
            <a:srgbClr val="1F1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00584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C6F3DE"/>
                </a:solidFill>
                <a:latin typeface="Consolas"/>
              </a:rPr>
              <a:t>shokunin-neon.vercel.app/confess?src=gym-shibuya-01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D4F43"/>
                </a:solidFill>
                <a:latin typeface="Hiragino Kaku Gothic ProN"/>
              </a:rPr>
              <a:t>追うKPI（PVではない）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831336"/>
            <a:ext cx="292608" cy="292608"/>
          </a:xfrm>
          <a:prstGeom prst="roundRect">
            <a:avLst/>
          </a:prstGeom>
          <a:solidFill>
            <a:srgbClr val="3D4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29260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Hiragino Kaku Gothic ProN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794760"/>
            <a:ext cx="9601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F1D1A"/>
                </a:solidFill>
                <a:latin typeface="Hiragino Kaku Gothic ProN"/>
              </a:rPr>
              <a:t>スキャン数 / 場所別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88536"/>
            <a:ext cx="292608" cy="292608"/>
          </a:xfrm>
          <a:prstGeom prst="roundRect">
            <a:avLst/>
          </a:prstGeom>
          <a:solidFill>
            <a:srgbClr val="3D4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51960"/>
            <a:ext cx="29260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Hiragino Kaku Gothic ProN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251960"/>
            <a:ext cx="9601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F1D1A"/>
                </a:solidFill>
                <a:latin typeface="Hiragino Kaku Gothic ProN"/>
              </a:rPr>
              <a:t>スキャン → 投稿率（恥を開けたか）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745736"/>
            <a:ext cx="292608" cy="292608"/>
          </a:xfrm>
          <a:prstGeom prst="roundRect">
            <a:avLst/>
          </a:prstGeom>
          <a:solidFill>
            <a:srgbClr val="3D4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709160"/>
            <a:ext cx="29260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Hiragino Kaku Gothic Pro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709160"/>
            <a:ext cx="9601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F1D1A"/>
                </a:solidFill>
                <a:latin typeface="Hiragino Kaku Gothic ProN"/>
              </a:rPr>
              <a:t>投稿 → 事例閲覧率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02936"/>
            <a:ext cx="292608" cy="292608"/>
          </a:xfrm>
          <a:prstGeom prst="roundRect">
            <a:avLst/>
          </a:prstGeom>
          <a:solidFill>
            <a:srgbClr val="3D4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66360"/>
            <a:ext cx="29260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Hiragino Kaku Gothic ProN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166360"/>
            <a:ext cx="9601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F1D1A"/>
                </a:solidFill>
                <a:latin typeface="Hiragino Kaku Gothic ProN"/>
              </a:rPr>
              <a:t>Give to Get 投稿率（データ増殖）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660136"/>
            <a:ext cx="292608" cy="292608"/>
          </a:xfrm>
          <a:prstGeom prst="roundRect">
            <a:avLst/>
          </a:prstGeom>
          <a:solidFill>
            <a:srgbClr val="3D4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623560"/>
            <a:ext cx="29260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Hiragino Kaku Gothic ProN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623560"/>
            <a:ext cx="9601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F1D1A"/>
                </a:solidFill>
                <a:latin typeface="Hiragino Kaku Gothic ProN"/>
              </a:rPr>
              <a:t>送客クリック / 予約数（収益先行指標）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457200" cy="38100"/>
          </a:xfrm>
          <a:prstGeom prst="rect">
            <a:avLst/>
          </a:prstGeom>
          <a:solidFill>
            <a:srgbClr val="3D4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4F43"/>
                </a:solidFill>
                <a:latin typeface="Hiragino Kaku Gothic ProN"/>
              </a:rPr>
              <a:t>PARTNERSHIP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1D1A"/>
                </a:solidFill>
                <a:latin typeface="Hiragino Mincho ProN"/>
              </a:rPr>
              <a:t>クリニック提携 = 収益と供給を同時に獲る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516636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D4F43"/>
                </a:solidFill>
                <a:latin typeface="Hiragino Mincho ProN"/>
              </a:rPr>
              <a:t>先方のメリット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926080"/>
            <a:ext cx="4572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7A766E"/>
                </a:solidFill>
                <a:latin typeface="Hiragino Kaku Gothic ProN"/>
              </a:rPr>
              <a:t>・ 待合のQRから自院に質の高い見込み客が戻る（送客）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7A766E"/>
                </a:solidFill>
                <a:latin typeface="Hiragino Kaku Gothic ProN"/>
              </a:rPr>
              <a:t>・ 将来：改善事例DBへの掲載・露出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011680"/>
            <a:ext cx="516636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D4F43"/>
                </a:solidFill>
                <a:latin typeface="Hiragino Mincho ProN"/>
              </a:rPr>
              <a:t>こちらのメリット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926080"/>
            <a:ext cx="4572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7A766E"/>
                </a:solidFill>
                <a:latin typeface="Hiragino Kaku Gothic ProN"/>
              </a:rPr>
              <a:t>・ 最高純度の悩みデータと最初のレビュー投稿者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7A766E"/>
                </a:solidFill>
                <a:latin typeface="Hiragino Kaku Gothic ProN"/>
              </a:rPr>
              <a:t>・ 送客フィー（Phase2以降の収益）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D4F43"/>
                </a:solidFill>
                <a:latin typeface="Hiragino Kaku Gothic ProN"/>
              </a:rPr>
              <a:t>進め方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F1D1A"/>
                </a:solidFill>
                <a:latin typeface="Hiragino Kaku Gothic ProN"/>
              </a:rPr>
              <a:t>1.  まず1〜2院でパイロット（設置＋送客レポートを手で作る）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F1D1A"/>
                </a:solidFill>
                <a:latin typeface="Hiragino Kaku Gothic ProN"/>
              </a:rPr>
              <a:t>2.  「月◯件送客しました」の実績を持って横展開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457200" cy="38100"/>
          </a:xfrm>
          <a:prstGeom prst="rect">
            <a:avLst/>
          </a:prstGeom>
          <a:solidFill>
            <a:srgbClr val="3D4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4F43"/>
                </a:solidFill>
                <a:latin typeface="Hiragino Kaku Gothic ProN"/>
              </a:rPr>
              <a:t>LEGAL &amp; ETHICS — 必読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1D1A"/>
                </a:solidFill>
                <a:latin typeface="Hiragino Mincho ProN"/>
              </a:rPr>
              <a:t>ここを外すと、事業が死ぬ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105156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2140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D4F43"/>
                </a:solidFill>
                <a:latin typeface="Hiragino Kaku Gothic ProN"/>
              </a:rPr>
              <a:t>医療広告ガイドライン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6888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A766E"/>
                </a:solidFill>
                <a:latin typeface="Hiragino Kaku Gothic ProN"/>
              </a:rPr>
              <a:t>当社は第三者UGCとして本人の実体験を扱う。Before/Afterは費用・期間・リスクを必ず併記。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35808"/>
            <a:ext cx="105156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45536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D4F43"/>
                </a:solidFill>
                <a:latin typeface="Hiragino Kaku Gothic ProN"/>
              </a:rPr>
              <a:t>ステマ規制（景表法）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49300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A766E"/>
                </a:solidFill>
                <a:latin typeface="Hiragino Kaku Gothic ProN"/>
              </a:rPr>
              <a:t>投稿の見返りに報酬・割引は厳禁（2024年 消費者庁 措置命令の実例）。無報酬を徹底。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059936"/>
            <a:ext cx="105156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169664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D4F43"/>
                </a:solidFill>
                <a:latin typeface="Hiragino Kaku Gothic ProN"/>
              </a:rPr>
              <a:t>名誉毀損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51713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A766E"/>
                </a:solidFill>
                <a:latin typeface="Hiragino Kaku Gothic ProN"/>
              </a:rPr>
              <a:t>クリニック名を出す投稿は事実ベース・本人体験のみ・モデレーション必須。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084064"/>
            <a:ext cx="105156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19379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D4F43"/>
                </a:solidFill>
                <a:latin typeface="Hiragino Kaku Gothic ProN"/>
              </a:rPr>
              <a:t>設置許可・プライバシー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4126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A766E"/>
                </a:solidFill>
                <a:latin typeface="Hiragino Kaku Gothic ProN"/>
              </a:rPr>
              <a:t>私有地は必ず事前許可。匿名・無登録を徹底。手書きBOXは症例化への同意を掲示。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457200" cy="38100"/>
          </a:xfrm>
          <a:prstGeom prst="rect">
            <a:avLst/>
          </a:prstGeom>
          <a:solidFill>
            <a:srgbClr val="3D4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4F43"/>
                </a:solidFill>
                <a:latin typeface="Hiragino Kaku Gothic ProN"/>
              </a:rPr>
              <a:t>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1D1A"/>
                </a:solidFill>
                <a:latin typeface="Hiragino Mincho ProN"/>
              </a:rPr>
              <a:t>小さく置き、効いた場所に張る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8328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3D4F43"/>
                </a:solidFill>
                <a:latin typeface="Hiragino Mincho ProN"/>
              </a:rPr>
              <a:t>Phase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1D1A"/>
                </a:solidFill>
                <a:latin typeface="Hiragino Kaku Gothic ProN"/>
              </a:rPr>
              <a:t>パイロット（〜1ヶ月）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A766E"/>
                </a:solidFill>
                <a:latin typeface="Hiragino Kaku Gothic ProN"/>
              </a:rPr>
              <a:t>提携1〜2院＋理容室/ジム数箇所に固有QR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480560"/>
            <a:ext cx="2834640" cy="12700"/>
          </a:xfrm>
          <a:prstGeom prst="rect">
            <a:avLst/>
          </a:prstGeom>
          <a:solidFill>
            <a:srgbClr val="E2D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61772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A8A39A"/>
                </a:solidFill>
                <a:latin typeface="Hiragino Kaku Gothic ProN"/>
              </a:rPr>
              <a:t>目標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D4F43"/>
                </a:solidFill>
                <a:latin typeface="Hiragino Kaku Gothic ProN"/>
              </a:rPr>
              <a:t>100スキャン / 30レビュー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38328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3774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3D4F43"/>
                </a:solidFill>
                <a:latin typeface="Hiragino Mincho ProN"/>
              </a:rPr>
              <a:t>Phase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92608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1D1A"/>
                </a:solidFill>
                <a:latin typeface="Hiragino Kaku Gothic ProN"/>
              </a:rPr>
              <a:t>検証（〜3ヶ月）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47472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A766E"/>
                </a:solidFill>
                <a:latin typeface="Hiragino Kaku Gothic ProN"/>
              </a:rPr>
              <a:t>勝ち場所を10〜20箇所へ。1ジャンル制覇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4480560"/>
            <a:ext cx="2834640" cy="12700"/>
          </a:xfrm>
          <a:prstGeom prst="rect">
            <a:avLst/>
          </a:prstGeom>
          <a:solidFill>
            <a:srgbClr val="E2D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61772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A8A39A"/>
                </a:solidFill>
                <a:latin typeface="Hiragino Kaku Gothic ProN"/>
              </a:rPr>
              <a:t>目標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D4F43"/>
                </a:solidFill>
                <a:latin typeface="Hiragino Kaku Gothic ProN"/>
              </a:rPr>
              <a:t>1,000スキャン / 100レビュー / 送客開始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2103120"/>
            <a:ext cx="338328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3774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3D4F43"/>
                </a:solidFill>
                <a:latin typeface="Hiragino Mincho ProN"/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92608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1D1A"/>
                </a:solidFill>
                <a:latin typeface="Hiragino Kaku Gothic ProN"/>
              </a:rPr>
              <a:t>拡大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47472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A766E"/>
                </a:solidFill>
                <a:latin typeface="Hiragino Kaku Gothic ProN"/>
              </a:rPr>
              <a:t>送客実績を武器にクリニック提携を面展開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4480560"/>
            <a:ext cx="2834640" cy="12700"/>
          </a:xfrm>
          <a:prstGeom prst="rect">
            <a:avLst/>
          </a:prstGeom>
          <a:solidFill>
            <a:srgbClr val="E2D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461772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A8A39A"/>
                </a:solidFill>
                <a:latin typeface="Hiragino Kaku Gothic ProN"/>
              </a:rPr>
              <a:t>目標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D4F43"/>
                </a:solidFill>
                <a:latin typeface="Hiragino Kaku Gothic ProN"/>
              </a:rPr>
              <a:t>送客の本格化・面の拡大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1D1A"/>
                </a:solidFill>
                <a:latin typeface="Hiragino Kaku Gothic ProN"/>
              </a:rPr>
              <a:t>Phase 0 は実質1万円台で回せる（NGL が $1万でやったのと同じ思想）。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920240"/>
            <a:ext cx="548640" cy="38100"/>
          </a:xfrm>
          <a:prstGeom prst="rect">
            <a:avLst/>
          </a:prstGeom>
          <a:solidFill>
            <a:srgbClr val="9D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C2A8"/>
                </a:solidFill>
                <a:latin typeface="Hiragino Kaku Gothic ProN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Hiragino Mincho ProN"/>
              </a:rPr>
              <a:t>一人になれる場所に、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Hiragino Mincho ProN"/>
              </a:rPr>
              <a:t>匿名の問いを置く。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C9C5BD"/>
                </a:solidFill>
                <a:latin typeface="Hiragino Kaku Gothic ProN"/>
              </a:rPr>
              <a:t>恥の市場で、唯一データが集まる獲得チャネル。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C9C5BD"/>
                </a:solidFill>
                <a:latin typeface="Hiragino Kaku Gothic ProN"/>
              </a:rPr>
              <a:t>最初の100レビューを、ここから獲る。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A867E"/>
                </a:solidFill>
                <a:latin typeface="Hiragino Kaku Gothic ProN"/>
              </a:rPr>
              <a:t>His Recoveries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